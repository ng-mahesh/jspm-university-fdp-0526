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embeddedFontLst>
    <p:embeddedFont>
      <p:font typeface="JetBrains Mono" panose="020B0604020202020204" charset="0"/>
      <p:regular r:id="rId28"/>
      <p:bold r:id="rId29"/>
      <p:italic r:id="rId30"/>
      <p:boldItalic r:id="rId31"/>
    </p:embeddedFont>
    <p:embeddedFont>
      <p:font typeface="Urbanist" panose="020B0604020202020204" charset="0"/>
      <p:regular r:id="rId32"/>
      <p:bold r:id="rId33"/>
      <p:italic r:id="rId34"/>
      <p:boldItalic r:id="rId35"/>
    </p:embeddedFont>
    <p:embeddedFont>
      <p:font typeface="Urbanist Medium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AF063D-800A-4A6C-B08F-318308F1A670}">
  <a:tblStyle styleId="{DEAF063D-800A-4A6C-B08F-318308F1A6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5381625"/>
            <a:ext cx="9525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247775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Faculty Development Program (FDP)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09862" y="3114675"/>
            <a:ext cx="67722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Full Stack Development in JavaScript &amp; TypeScript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48087" y="4714875"/>
            <a:ext cx="4695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Day 1: Foundations &amp; Environment Setup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315277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373380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ABOUT </a:t>
            </a:r>
            <a:r>
              <a:rPr lang="en-US" sz="3600" b="1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ME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1747837"/>
            <a:ext cx="5500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Mahesh Bodhgire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2481262"/>
            <a:ext cx="52389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Senior </a:t>
            </a:r>
            <a:r>
              <a:rPr lang="en-US" sz="1800" b="0" i="0" u="none" strike="noStrike" cap="none" dirty="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Principal </a:t>
            </a:r>
            <a:r>
              <a:rPr lang="en-US" sz="1800" dirty="0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Engineer, MMC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619250" y="3109912"/>
            <a:ext cx="4381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12+ Years Industry Experience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619250" y="3690937"/>
            <a:ext cx="4381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Expertise: MEAN/MERN, TypeScript, Next.js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4187" y="2195512"/>
            <a:ext cx="1333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24187" y="2776537"/>
            <a:ext cx="1714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4187" y="3357562"/>
            <a:ext cx="1714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24187" y="3938587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24187" y="4519612"/>
            <a:ext cx="1714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24187" y="5100637"/>
            <a:ext cx="1809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FDP AGENDA: DAY 1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3500437" y="2152650"/>
            <a:ext cx="68397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Introduction to </a:t>
            </a:r>
            <a:r>
              <a:rPr 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Full Stack Ecosystem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modern trends.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3500437" y="2733675"/>
            <a:ext cx="717906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Mastering </a:t>
            </a:r>
            <a:r>
              <a:rPr 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JavaScript ES6+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features and async patterns.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3500437" y="3314700"/>
            <a:ext cx="5667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Transitioning to </a:t>
            </a:r>
            <a:r>
              <a:rPr 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TypeScript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enterprise applications.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3500437" y="3895725"/>
            <a:ext cx="5667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Professional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Environment Setup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Tooling.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500437" y="4476750"/>
            <a:ext cx="5667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Version Control with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 &amp; GitHub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workflows.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500437" y="5057775"/>
            <a:ext cx="5667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Hands-on Exercises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Building the foundation.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80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9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101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29113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WHAT IS FULL STACK?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190750"/>
            <a:ext cx="52387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Full stack development refers to the development of both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front end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(client side) and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back end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(server side) portions of an application.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350520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UI, UX, and Interaction.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47750" y="4086225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Logic, APIs, and Auth.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466725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Database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Persistence and Schema.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47750" y="5248275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Deployment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Infrastructure.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26611"/>
            <a:ext cx="3492549" cy="2798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726611"/>
            <a:ext cx="3492549" cy="2798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726611"/>
            <a:ext cx="3492549" cy="279801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FRONTEND TECHNOLOGIES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41338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UI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62025" y="48768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React.js for component-driven architecture and Next.js for SSR.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740324" y="41338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740324" y="48768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TypeScript for static typing and early error detection.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518624" y="41338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Styling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18624" y="4876800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Utility-first CSS frameworks for rapid, responsive design.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6412"/>
            <a:ext cx="52387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76412"/>
            <a:ext cx="52387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66937"/>
            <a:ext cx="4457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166937"/>
            <a:ext cx="4457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BACKEND TECHNOLOGIES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62025" y="28336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Node.js &amp; Express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62025" y="3576637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non-blocking, event-driven runtime environment for building highly scalable network applications.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62025" y="5195887"/>
            <a:ext cx="4457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app = express();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772275" y="283368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Authentication &amp; APIs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772275" y="3576637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Implementing secure communication using JWT (JSON Web Tokens), OAuth2, and RESTful principles.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76400"/>
            <a:ext cx="523875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76400"/>
            <a:ext cx="523875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066925"/>
            <a:ext cx="4457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066925"/>
            <a:ext cx="4457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DATABASE TECHNOLOGIES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962025" y="27336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Relational (SQL)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62025" y="3476625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PostgreSQL and MySQL. Structured data with strict schemas and complex relationships.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62025" y="5153025"/>
            <a:ext cx="44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Financial apps, Inventory.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772275" y="27336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Non-Relational (NoSQL)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772275" y="3476625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MongoDB. Flexible document-based storage designed for high-velocity data and horizontal scaling.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772275" y="5153025"/>
            <a:ext cx="44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CMS, Real-time apps.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92106"/>
            <a:ext cx="3492549" cy="2232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692104"/>
            <a:ext cx="3492549" cy="2232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692104"/>
            <a:ext cx="3492549" cy="22324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DEPLOYMENT PLATFORMS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62025" y="38766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Vercel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2025" y="4619625"/>
            <a:ext cx="27114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Optimized for Frontend &amp; Serverless.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740324" y="38766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740324" y="4619625"/>
            <a:ext cx="27114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Enterprise cloud infrastructure.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518624" y="38766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Render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18624" y="4619625"/>
            <a:ext cx="27114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Simple hosting for Node.js backends.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384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19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0048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1381125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MERN STACK FLOW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47750" y="2695575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React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Interactive UI in the browser.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47750" y="3276600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Express/Node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Handling API requests.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47750" y="3857625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MongoDB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Cloud database storage.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4486275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MERN stack provides a full JavaScript environment, allowing developers to share code between client and server.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146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85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1466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3858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WHY JAVASCRIPT?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1047750" y="297180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Universal Language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One language for client, server, and mobile.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047750" y="389572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High Performance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V8 Engine optimization and asynchronous execution.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858000" y="297180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Vibrant Ecosystem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NPM contains over 2M+ packages and libraries.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858000" y="389572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Fast Iteration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Dynamic typing and hot-reloading allow rapid prototyping.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146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858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146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38587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WHY TYPESCRIPT?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1047750" y="297180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Type Safety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Eliminates whole classes of runtime errors at compile time.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047750" y="389572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Self-Documenting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Types provide explicit contracts for functions and components.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858000" y="297180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IDE Support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Superior autocomplete, navigation, and refactoring tools.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858000" y="389572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Maintainability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Essential for large-scale enterprise applications.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/>
          <p:nvPr/>
        </p:nvSpPr>
        <p:spPr>
          <a:xfrm>
            <a:off x="571500" y="3949818"/>
            <a:ext cx="11049000" cy="381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1619250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BEF26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953125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10287000" y="30146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BEF264"/>
          </a:solidFill>
          <a:ln w="5715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JAVASCRIPT EVOLUTION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511968" y="3490912"/>
            <a:ext cx="25003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ES5 (2009)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3995737"/>
            <a:ext cx="23812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Traditional "Vanilla" JS. CommonJS modules and callbacks.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4845843" y="3490912"/>
            <a:ext cx="25003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ES6+ (2015)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4905375" y="3995737"/>
            <a:ext cx="23812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 JS. Classes, arrow functions, and ES Modules.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9179718" y="3490912"/>
            <a:ext cx="25003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ESNext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239250" y="3995737"/>
            <a:ext cx="23812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Standardized annual updates. Async/await and Optional Chaining.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8800"/>
            <a:ext cx="5238750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28800"/>
            <a:ext cx="52387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KEY ES6 FEATURES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962025" y="22193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Variable Scoping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962025" y="2962275"/>
            <a:ext cx="44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let and const for block-level scoping vs var.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962025" y="39147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Destructuring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962025" y="4657725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Unpack values from arrays or properties from objects into distinct variables.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6772275" y="221932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Arrow Functions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772275" y="2962275"/>
            <a:ext cx="44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Concise syntax and lexical this binding.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6772275" y="39147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Spread/Rest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6772275" y="4657725"/>
            <a:ext cx="4457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Copying arrays and objects easily using ... operator.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8800"/>
            <a:ext cx="3492549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28800"/>
            <a:ext cx="3492549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28800"/>
            <a:ext cx="3492549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2193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2193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219325"/>
            <a:ext cx="27114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ASYNC PROGRAMMING</a:t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962025" y="28860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Callbacks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962025" y="3629025"/>
            <a:ext cx="271149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"classic" way. Functions passed as arguments. High risk of "Callback Hell."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4740324" y="28860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Promises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4740324" y="3629025"/>
            <a:ext cx="271149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Objects representing the eventual completion of an async operation. .then()/.catch()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8518624" y="28860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Async/Await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8518624" y="3629025"/>
            <a:ext cx="2711499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Syntactic sugar over promises. Makes asynchronous code look and behave like synchronous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62137"/>
            <a:ext cx="52387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62287"/>
            <a:ext cx="52387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871662"/>
            <a:ext cx="521970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 MODULES (ESM)</a:t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571500" y="2090737"/>
            <a:ext cx="52387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Standardized system for sharing code across files. Promotes a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Modular Architecture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00250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00250"/>
            <a:ext cx="349254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39077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39077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390775"/>
            <a:ext cx="27114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TYPESCRIPT BASICS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962025" y="30575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Static Types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962025" y="380047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Define types for variables: string, number, boolean, any.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4740324" y="30575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Interfaces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4740324" y="380047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Define the "shape" of an object. Essential for API data contracts.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8518624" y="305752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Generics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8518624" y="3800475"/>
            <a:ext cx="271149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reusable components that work with a variety of types while maintaining safety.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0" name="Google Shape;350;p29"/>
          <p:cNvGraphicFramePr/>
          <p:nvPr>
            <p:extLst>
              <p:ext uri="{D42A27DB-BD31-4B8C-83A1-F6EECF244321}">
                <p14:modId xmlns:p14="http://schemas.microsoft.com/office/powerpoint/2010/main" val="3514237380"/>
              </p:ext>
            </p:extLst>
          </p:nvPr>
        </p:nvGraphicFramePr>
        <p:xfrm>
          <a:off x="571500" y="2247900"/>
          <a:ext cx="11049000" cy="3295625"/>
        </p:xfrm>
        <a:graphic>
          <a:graphicData uri="http://schemas.openxmlformats.org/drawingml/2006/table">
            <a:tbl>
              <a:tblPr firstRow="1" bandRow="1">
                <a:noFill/>
                <a:tableStyleId>{DEAF063D-800A-4A6C-B08F-318308F1A670}</a:tableStyleId>
              </a:tblPr>
              <a:tblGrid>
                <a:gridCol w="26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JavaScript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 dirty="0">
                          <a:solidFill>
                            <a:schemeClr val="bg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TypeScript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Typing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Dynamic (Runtime)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Static (Compile-time)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Error Detection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During Execution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During Development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Maintainability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Difficult for large apps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Excellent for scalability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Tooling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Basic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chemeClr val="bg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Rich (Autocomplete/Refactor)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1" name="Google Shape;351;p29"/>
          <p:cNvSpPr/>
          <p:nvPr/>
        </p:nvSpPr>
        <p:spPr>
          <a:xfrm>
            <a:off x="571500" y="2924175"/>
            <a:ext cx="2696914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3268414" y="2924175"/>
            <a:ext cx="3624857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6893272" y="2924175"/>
            <a:ext cx="4727227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571500" y="3586162"/>
            <a:ext cx="269691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3268414" y="3586162"/>
            <a:ext cx="3624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6893272" y="3586162"/>
            <a:ext cx="47272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571500" y="4233862"/>
            <a:ext cx="269691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3268414" y="4233862"/>
            <a:ext cx="3624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6893272" y="4233862"/>
            <a:ext cx="47272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71500" y="4881562"/>
            <a:ext cx="269691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3268414" y="4881562"/>
            <a:ext cx="3624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6893272" y="4881562"/>
            <a:ext cx="47272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500" y="5529262"/>
            <a:ext cx="269691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3268414" y="5529262"/>
            <a:ext cx="3624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6893272" y="5529262"/>
            <a:ext cx="47272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JS VS TS: COMPARISON</a:t>
            </a:r>
            <a:endParaRPr dirty="0"/>
          </a:p>
        </p:txBody>
      </p:sp>
      <p:sp>
        <p:nvSpPr>
          <p:cNvPr id="367" name="Google Shape;367;p2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523875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71700"/>
            <a:ext cx="523875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/>
          <p:nvPr/>
        </p:nvSpPr>
        <p:spPr>
          <a:xfrm>
            <a:off x="962025" y="2562225"/>
            <a:ext cx="4457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src/</a:t>
            </a:r>
            <a:endParaRPr/>
          </a:p>
        </p:txBody>
      </p:sp>
      <p:sp>
        <p:nvSpPr>
          <p:cNvPr id="376" name="Google Shape;376;p30"/>
          <p:cNvSpPr txBox="1"/>
          <p:nvPr/>
        </p:nvSpPr>
        <p:spPr>
          <a:xfrm>
            <a:off x="1152525" y="3028950"/>
            <a:ext cx="4267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components/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(UI Elements)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1152525" y="3495675"/>
            <a:ext cx="4267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services/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(API Logic)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1152525" y="3962400"/>
            <a:ext cx="4267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models/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(Types/Schemas)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1152525" y="4429125"/>
            <a:ext cx="4267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controllers/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(Route Handlers)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1152525" y="4895850"/>
            <a:ext cx="4267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utils/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(Helpers)</a:t>
            </a:r>
            <a:endParaRPr/>
          </a:p>
        </p:txBody>
      </p:sp>
      <p:pic>
        <p:nvPicPr>
          <p:cNvPr id="381" name="Google Shape;38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562225"/>
            <a:ext cx="4457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STANDARD PROJECT STRUCTURE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 txBox="1"/>
          <p:nvPr/>
        </p:nvSpPr>
        <p:spPr>
          <a:xfrm>
            <a:off x="6772275" y="32289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Modular Design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6772275" y="3971925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Organizing code into logical folders ensures </a:t>
            </a: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Separation of Concerns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makes the codebase easier to navigate and test.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DEVELOPMENT WORKFLOW</a:t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571500" y="57054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Continuously delivering value through a robust CI/CD pipeline.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 BASICS</a:t>
            </a:r>
            <a:endParaRPr/>
          </a:p>
        </p:txBody>
      </p:sp>
      <p:sp>
        <p:nvSpPr>
          <p:cNvPr id="407" name="Google Shape;407;p3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962025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Repository</a:t>
            </a:r>
            <a:endParaRPr/>
          </a:p>
        </p:txBody>
      </p:sp>
      <p:sp>
        <p:nvSpPr>
          <p:cNvPr id="409" name="Google Shape;409;p32"/>
          <p:cNvSpPr txBox="1"/>
          <p:nvPr/>
        </p:nvSpPr>
        <p:spPr>
          <a:xfrm>
            <a:off x="962025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central location for storing and managing code history.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4740324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Commit</a:t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4740324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Taking a "snapshot" of changes with a descriptive message.</a:t>
            </a:r>
            <a:endParaRPr/>
          </a:p>
        </p:txBody>
      </p:sp>
      <p:sp>
        <p:nvSpPr>
          <p:cNvPr id="412" name="Google Shape;412;p32"/>
          <p:cNvSpPr txBox="1"/>
          <p:nvPr/>
        </p:nvSpPr>
        <p:spPr>
          <a:xfrm>
            <a:off x="8518624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Branch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8518624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Parallel version of a repository to develop features in isolation.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523875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71700"/>
            <a:ext cx="5238750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562225"/>
            <a:ext cx="44577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562225"/>
            <a:ext cx="44577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GITHUB COLLABORATION</a:t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 txBox="1"/>
          <p:nvPr/>
        </p:nvSpPr>
        <p:spPr>
          <a:xfrm>
            <a:off x="962025" y="32289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Pull Requests (PR)</a:t>
            </a:r>
            <a:endParaRPr/>
          </a:p>
        </p:txBody>
      </p:sp>
      <p:sp>
        <p:nvSpPr>
          <p:cNvPr id="426" name="Google Shape;426;p33"/>
          <p:cNvSpPr txBox="1"/>
          <p:nvPr/>
        </p:nvSpPr>
        <p:spPr>
          <a:xfrm>
            <a:off x="962025" y="3971925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standard way to propose changes, discuss code, and merge into the main branch.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6772275" y="3228975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Code Reviews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6772275" y="3971925"/>
            <a:ext cx="44577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Maintaining high quality through peer feedback and automated checks before deployment.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14575"/>
            <a:ext cx="52387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324100"/>
            <a:ext cx="52197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098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337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147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595812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VS CODE TOOLING</a:t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 txBox="1"/>
          <p:nvPr/>
        </p:nvSpPr>
        <p:spPr>
          <a:xfrm>
            <a:off x="1047750" y="246697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ESLint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Static code analysis for finding patterns.</a:t>
            </a:r>
            <a:endParaRPr/>
          </a:p>
        </p:txBody>
      </p:sp>
      <p:sp>
        <p:nvSpPr>
          <p:cNvPr id="443" name="Google Shape;443;p34"/>
          <p:cNvSpPr txBox="1"/>
          <p:nvPr/>
        </p:nvSpPr>
        <p:spPr>
          <a:xfrm>
            <a:off x="1047750" y="339090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Prettier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Opinionated code formatter.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1047750" y="3971925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GitLens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Supercharged Git integration.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1047750" y="455295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Thunder Client</a:t>
            </a: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Lightweight API client (REST/GraphQL).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562225"/>
            <a:ext cx="27114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INDUSTRY BEST PRACTICES</a:t>
            </a:r>
            <a:endParaRPr/>
          </a:p>
        </p:txBody>
      </p:sp>
      <p:sp>
        <p:nvSpPr>
          <p:cNvPr id="458" name="Google Shape;458;p3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5"/>
          <p:cNvSpPr txBox="1"/>
          <p:nvPr/>
        </p:nvSpPr>
        <p:spPr>
          <a:xfrm>
            <a:off x="962025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Clean Code</a:t>
            </a:r>
            <a:endParaRPr/>
          </a:p>
        </p:txBody>
      </p:sp>
      <p:sp>
        <p:nvSpPr>
          <p:cNvPr id="460" name="Google Shape;460;p35"/>
          <p:cNvSpPr txBox="1"/>
          <p:nvPr/>
        </p:nvSpPr>
        <p:spPr>
          <a:xfrm>
            <a:off x="962025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Writing code for humans to read, not just machines to execute.</a:t>
            </a:r>
            <a:endParaRPr/>
          </a:p>
        </p:txBody>
      </p:sp>
      <p:sp>
        <p:nvSpPr>
          <p:cNvPr id="461" name="Google Shape;461;p35"/>
          <p:cNvSpPr txBox="1"/>
          <p:nvPr/>
        </p:nvSpPr>
        <p:spPr>
          <a:xfrm>
            <a:off x="4740324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Modularity</a:t>
            </a:r>
            <a:endParaRPr/>
          </a:p>
        </p:txBody>
      </p:sp>
      <p:sp>
        <p:nvSpPr>
          <p:cNvPr id="462" name="Google Shape;462;p35"/>
          <p:cNvSpPr txBox="1"/>
          <p:nvPr/>
        </p:nvSpPr>
        <p:spPr>
          <a:xfrm>
            <a:off x="4740324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Single Responsibility Principle: One module, one purpose.</a:t>
            </a:r>
            <a:endParaRPr/>
          </a:p>
        </p:txBody>
      </p:sp>
      <p:sp>
        <p:nvSpPr>
          <p:cNvPr id="463" name="Google Shape;463;p35"/>
          <p:cNvSpPr txBox="1"/>
          <p:nvPr/>
        </p:nvSpPr>
        <p:spPr>
          <a:xfrm>
            <a:off x="8518624" y="322897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Naming</a:t>
            </a:r>
            <a:endParaRPr/>
          </a:p>
        </p:txBody>
      </p:sp>
      <p:sp>
        <p:nvSpPr>
          <p:cNvPr id="464" name="Google Shape;464;p35"/>
          <p:cNvSpPr txBox="1"/>
          <p:nvPr/>
        </p:nvSpPr>
        <p:spPr>
          <a:xfrm>
            <a:off x="8518624" y="3971925"/>
            <a:ext cx="27114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descriptive, consistent naming conventions (camelCase).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6"/>
          <p:cNvSpPr/>
          <p:nvPr/>
        </p:nvSpPr>
        <p:spPr>
          <a:xfrm>
            <a:off x="5143500" y="3038475"/>
            <a:ext cx="19050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6"/>
          <p:cNvSpPr txBox="1"/>
          <p:nvPr/>
        </p:nvSpPr>
        <p:spPr>
          <a:xfrm>
            <a:off x="2047875" y="1838325"/>
            <a:ext cx="850106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Day 1: Hands-on Overview</a:t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2286000" y="380047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Setting up the dev environment, initializing a Git repo, and building a basic TS-powered Node.js API.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7"/>
          <p:cNvSpPr txBox="1"/>
          <p:nvPr/>
        </p:nvSpPr>
        <p:spPr>
          <a:xfrm>
            <a:off x="3671887" y="2627642"/>
            <a:ext cx="4450556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dirty="0"/>
          </a:p>
        </p:txBody>
      </p:sp>
      <p:sp>
        <p:nvSpPr>
          <p:cNvPr id="482" name="Google Shape;482;p37"/>
          <p:cNvSpPr txBox="1"/>
          <p:nvPr/>
        </p:nvSpPr>
        <p:spPr>
          <a:xfrm>
            <a:off x="3938587" y="3856367"/>
            <a:ext cx="37052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PresentationFormat>Widescreen</PresentationFormat>
  <Paragraphs>150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Urbanist Medium</vt:lpstr>
      <vt:lpstr>JetBrains Mono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Mahesh Bodhgire</cp:lastModifiedBy>
  <cp:revision>1</cp:revision>
  <dcterms:modified xsi:type="dcterms:W3CDTF">2026-05-18T03:22:12Z</dcterms:modified>
</cp:coreProperties>
</file>